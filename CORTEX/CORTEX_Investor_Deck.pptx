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2A2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4572000"/>
            <a:ext cx="3657600" cy="3657600"/>
          </a:xfrm>
          <a:prstGeom prst="ellipse">
            <a:avLst/>
          </a:prstGeom>
          <a:solidFill>
            <a:srgbClr val="2A2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0" b="1" i="0">
                <a:solidFill>
                  <a:srgbClr val="C45A1A"/>
                </a:solidFill>
                <a:latin typeface="Bookman Old Style"/>
              </a:rPr>
              <a:t>CORTEX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54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FFFFFF"/>
                </a:solidFill>
                <a:latin typeface="Calibri"/>
              </a:rPr>
              <a:t>The Business Intelligence Operating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94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1">
                <a:solidFill>
                  <a:srgbClr val="B9B2AA"/>
                </a:solidFill>
                <a:latin typeface="Calibri"/>
              </a:rPr>
              <a:t>A governed digital brain every organization can install — and grow into.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B9B2AA"/>
                </a:solidFill>
                <a:latin typeface="Calibri"/>
              </a:rPr>
              <a:t>Investor Deck  ·  v1.0  ·  June 2026  ·  </a:t>
            </a:r>
            <a:r>
              <a:rPr sz="1200" b="1" i="0">
                <a:solidFill>
                  <a:srgbClr val="E08A4F"/>
                </a:solidFill>
                <a:latin typeface="Calibri"/>
              </a:rPr>
              <a:t>Karim Azzaoui · winsym.ai · Kuala Lumpur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C45A1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300" b="1" i="0">
                <a:solidFill>
                  <a:srgbClr val="1C1917"/>
                </a:solidFill>
                <a:latin typeface="Bookman Old Style"/>
              </a:rPr>
              <a:t>Every company leaks its own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5257800" cy="1874519"/>
          </a:xfrm>
          <a:prstGeom prst="round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350008"/>
            <a:ext cx="457200" cy="457200"/>
          </a:xfrm>
          <a:prstGeom prst="ellipse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350008"/>
            <a:ext cx="4206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Bookman Old Styl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31343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1C1917"/>
                </a:solidFill>
                <a:latin typeface="Calibri"/>
              </a:rPr>
              <a:t>Knowledge walks out the door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834640"/>
            <a:ext cx="411480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 i="0">
                <a:solidFill>
                  <a:srgbClr val="6B6560"/>
                </a:solidFill>
                <a:latin typeface="Calibri"/>
              </a:rPr>
              <a:t>When a key person leaves, years of context vanish. The business pays to re-learn what it already knew.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57400"/>
            <a:ext cx="5257800" cy="1874519"/>
          </a:xfrm>
          <a:prstGeom prst="round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0" y="2350008"/>
            <a:ext cx="457200" cy="457200"/>
          </a:xfrm>
          <a:prstGeom prst="ellipse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93408" y="2350008"/>
            <a:ext cx="4206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Bookman Old Styl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31343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1C1917"/>
                </a:solidFill>
                <a:latin typeface="Calibri"/>
              </a:rPr>
              <a:t>The same questions, answered 1,000 times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834640"/>
            <a:ext cx="411480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 i="0">
                <a:solidFill>
                  <a:srgbClr val="6B6560"/>
                </a:solidFill>
                <a:latin typeface="Calibri"/>
              </a:rPr>
              <a:t>“How do we handle this refund?” “What’s our policy on X?” — answered inconsistently, from memory.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51960"/>
            <a:ext cx="5257800" cy="1874519"/>
          </a:xfrm>
          <a:prstGeom prst="round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4544568"/>
            <a:ext cx="457200" cy="457200"/>
          </a:xfrm>
          <a:prstGeom prst="ellipse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544568"/>
            <a:ext cx="4206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Bookman Old Style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50799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1C1917"/>
                </a:solidFill>
                <a:latin typeface="Calibri"/>
              </a:rPr>
              <a:t>Decisions on opinion, not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411480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 i="0">
                <a:solidFill>
                  <a:srgbClr val="6B6560"/>
                </a:solidFill>
                <a:latin typeface="Calibri"/>
              </a:rPr>
              <a:t>The loudest voice or latest anecdote wins, because the history is too scattered to consult in the moment.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251960"/>
            <a:ext cx="5257800" cy="1874519"/>
          </a:xfrm>
          <a:prstGeom prst="round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75120" y="4544568"/>
            <a:ext cx="457200" cy="457200"/>
          </a:xfrm>
          <a:prstGeom prst="ellipse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3408" y="4544568"/>
            <a:ext cx="4206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Bookman Old Style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50799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1C1917"/>
                </a:solidFill>
                <a:latin typeface="Calibri"/>
              </a:rPr>
              <a:t>Tools are silos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029200"/>
            <a:ext cx="411480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 i="0">
                <a:solidFill>
                  <a:srgbClr val="6B6560"/>
                </a:solidFill>
                <a:latin typeface="Calibri"/>
              </a:rPr>
              <a:t>The CRM doesn’t know the contracts; the contracts don’t know the meeting; the meeting never reaches the work.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1">
                <a:solidFill>
                  <a:srgbClr val="C45A1A"/>
                </a:solidFill>
                <a:latin typeface="Calibri"/>
              </a:rPr>
              <a:t>Growth without a brain doesn’t scale the company — it scales the chaos.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E08A4F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300" b="1" i="0">
                <a:solidFill>
                  <a:srgbClr val="FFFFFF"/>
                </a:solidFill>
                <a:latin typeface="Bookman Old Style"/>
              </a:rPr>
              <a:t>Not a chatbot. The brain a company runs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B9B2AA"/>
                </a:solidFill>
                <a:latin typeface="Calibri"/>
              </a:rPr>
              <a:t>CORTEX captures what the business knows, runs how it works, supports its decisions, and acts on a cadence — grounded in stored, sourced knowledge, and it never fabricates.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3419856" cy="2743200"/>
          </a:xfrm>
          <a:prstGeom prst="roundRect">
            <a:avLst/>
          </a:prstGeom>
          <a:solidFill>
            <a:srgbClr val="2A2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3063240"/>
            <a:ext cx="502920" cy="502920"/>
          </a:xfrm>
          <a:prstGeom prst="ellipse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32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Bookman Old Styl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749039"/>
            <a:ext cx="2779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E08A4F"/>
                </a:solidFill>
                <a:latin typeface="Calibri"/>
              </a:rPr>
              <a:t>Knowledge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343400"/>
            <a:ext cx="277977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B9B2AA"/>
                </a:solidFill>
                <a:latin typeface="Calibri"/>
              </a:rPr>
              <a:t>Every decision, customer, contract and risk is a node; relationships are typed edges. The brain reasons, not just retrieves.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743200"/>
            <a:ext cx="3419856" cy="2743200"/>
          </a:xfrm>
          <a:prstGeom prst="roundRect">
            <a:avLst/>
          </a:prstGeom>
          <a:solidFill>
            <a:srgbClr val="2A2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09160" y="3063240"/>
            <a:ext cx="502920" cy="502920"/>
          </a:xfrm>
          <a:prstGeom prst="ellipse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30632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Bookman Old Style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749039"/>
            <a:ext cx="2779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E08A4F"/>
                </a:solidFill>
                <a:latin typeface="Calibri"/>
              </a:rPr>
              <a:t>Governance / RBAC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4343400"/>
            <a:ext cx="277977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B9B2AA"/>
                </a:solidFill>
                <a:latin typeface="Calibri"/>
              </a:rPr>
              <a:t>Sensitivity on the data, clearance on the user, enforced server-side. The CEO and the front desk see different views of one system.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2743200"/>
            <a:ext cx="3419856" cy="2743200"/>
          </a:xfrm>
          <a:prstGeom prst="roundRect">
            <a:avLst/>
          </a:prstGeom>
          <a:solidFill>
            <a:srgbClr val="2A2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75320" y="3063240"/>
            <a:ext cx="502920" cy="502920"/>
          </a:xfrm>
          <a:prstGeom prst="ellipse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30632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Bookman Old Styl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749039"/>
            <a:ext cx="2779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E08A4F"/>
                </a:solidFill>
                <a:latin typeface="Calibri"/>
              </a:rPr>
              <a:t>Grounded Trust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343400"/>
            <a:ext cx="277977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B9B2AA"/>
                </a:solidFill>
                <a:latin typeface="Calibri"/>
              </a:rPr>
              <a:t>Answers only from what’s stored — with sources, a confidence band, and a named human approver for high-stakes output.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1">
                <a:solidFill>
                  <a:srgbClr val="FFFFFF"/>
                </a:solidFill>
                <a:latin typeface="Calibri"/>
              </a:rPr>
              <a:t>3 pillars · 8 functional layers · 1 continuous improvement loop (the CORTEX Method)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C45A1A"/>
                </a:solidFill>
                <a:latin typeface="Calibri"/>
              </a:rPr>
              <a:t>THE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300" b="1" i="0">
                <a:solidFill>
                  <a:srgbClr val="1C1917"/>
                </a:solidFill>
                <a:latin typeface="Bookman Old Style"/>
              </a:rPr>
              <a:t>We’re creating a category: BIOS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500" b="0" i="0">
                <a:solidFill>
                  <a:srgbClr val="6B6560"/>
                </a:solidFill>
                <a:latin typeface="Calibri"/>
              </a:rPr>
              <a:t>Business Intelligence Operating System — the governed layer that sits above every tool, person and decision in the company. Search, chat, CRM and agents are features of it, not alternatives to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2606040" cy="2194560"/>
          </a:xfrm>
          <a:prstGeom prst="round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611880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C45A1A"/>
                </a:solidFill>
                <a:latin typeface="Bookman Old Style"/>
              </a:rPr>
              <a:t>~80%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57200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200" b="0" i="0">
                <a:solidFill>
                  <a:srgbClr val="6B6560"/>
                </a:solidFill>
                <a:latin typeface="Calibri"/>
              </a:rPr>
              <a:t>of enterprises deploying generative AI by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3200400"/>
            <a:ext cx="2606040" cy="2194560"/>
          </a:xfrm>
          <a:prstGeom prst="round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3611880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C45A1A"/>
                </a:solidFill>
                <a:latin typeface="Bookman Old Style"/>
              </a:rPr>
              <a:t>$12B → $80B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457200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200" b="0" i="0">
                <a:solidFill>
                  <a:srgbClr val="6B6560"/>
                </a:solidFill>
                <a:latin typeface="Calibri"/>
              </a:rPr>
              <a:t>SEA AI market, 2026 → 2031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200400"/>
            <a:ext cx="2606040" cy="2194560"/>
          </a:xfrm>
          <a:prstGeom prst="round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611880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C45A1A"/>
                </a:solidFill>
                <a:latin typeface="Bookman Old Style"/>
              </a:rPr>
              <a:t>~68%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57200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200" b="0" i="0">
                <a:solidFill>
                  <a:srgbClr val="6B6560"/>
                </a:solidFill>
                <a:latin typeface="Calibri"/>
              </a:rPr>
              <a:t>Malaysia professional AI adoption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3200400"/>
            <a:ext cx="2606040" cy="2194560"/>
          </a:xfrm>
          <a:prstGeom prst="round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3611880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C45A1A"/>
                </a:solidFill>
                <a:latin typeface="Bookman Old Style"/>
              </a:rPr>
              <a:t>14–18%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457200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200" b="0" i="0">
                <a:solidFill>
                  <a:srgbClr val="6B6560"/>
                </a:solidFill>
                <a:latin typeface="Calibri"/>
              </a:rPr>
              <a:t>KM software market CAGR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1">
                <a:solidFill>
                  <a:srgbClr val="1C1917"/>
                </a:solidFill>
                <a:latin typeface="Calibri"/>
              </a:rPr>
              <a:t>High intent, low maturity, weak governance — the perfect moment for a governed brain, starting in Southeast Asia.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C45A1A"/>
                </a:solidFill>
                <a:latin typeface="Calibr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300" b="1" i="0">
                <a:solidFill>
                  <a:srgbClr val="1C1917"/>
                </a:solidFill>
                <a:latin typeface="Bookman Old Style"/>
              </a:rPr>
              <a:t>One brain, eight functions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606040" cy="1417320"/>
          </a:xfrm>
          <a:prstGeom prst="roundRect">
            <a:avLst/>
          </a:prstGeom>
          <a:solidFill>
            <a:srgbClr val="F5F2EE"/>
          </a:solidFill>
          <a:ln w="12700">
            <a:solidFill>
              <a:srgbClr val="B9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2148840"/>
            <a:ext cx="384048" cy="384048"/>
          </a:xfrm>
          <a:prstGeom prst="ellipse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1488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ookman Old Styl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2121408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350" b="1" i="0">
                <a:solidFill>
                  <a:srgbClr val="1C1917"/>
                </a:solidFill>
                <a:latin typeface="Calibri"/>
              </a:rPr>
              <a:t>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61488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6B6560"/>
                </a:solidFill>
                <a:latin typeface="Calibri"/>
              </a:rPr>
              <a:t>single source of truth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92024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813048" y="2148840"/>
            <a:ext cx="384048" cy="384048"/>
          </a:xfrm>
          <a:prstGeom prst="ellipse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3048" y="21488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ookman Old Styl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2121408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350" b="1" i="0">
                <a:solidFill>
                  <a:srgbClr val="1C1917"/>
                </a:solidFill>
                <a:latin typeface="Calibri"/>
              </a:rPr>
              <a:t>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761488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6B6560"/>
                </a:solidFill>
                <a:latin typeface="Calibri"/>
              </a:rPr>
              <a:t>runs the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920240"/>
            <a:ext cx="2606040" cy="1417320"/>
          </a:xfrm>
          <a:prstGeom prst="roundRect">
            <a:avLst/>
          </a:prstGeom>
          <a:solidFill>
            <a:srgbClr val="F5F2EE"/>
          </a:solidFill>
          <a:ln w="12700">
            <a:solidFill>
              <a:srgbClr val="B9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01968" y="2148840"/>
            <a:ext cx="384048" cy="384048"/>
          </a:xfrm>
          <a:prstGeom prst="ellipse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1488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ookman Old Style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2121408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350" b="1" i="0">
                <a:solidFill>
                  <a:srgbClr val="1C1917"/>
                </a:solidFill>
                <a:latin typeface="Calibri"/>
              </a:rPr>
              <a:t>Marketing &amp;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761488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6B6560"/>
                </a:solidFill>
                <a:latin typeface="Calibri"/>
              </a:rPr>
              <a:t>on-brand at scale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92024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90888" y="2148840"/>
            <a:ext cx="384048" cy="384048"/>
          </a:xfrm>
          <a:prstGeom prst="ellipse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90888" y="21488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ookman Old Style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2952" y="2121408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350" b="1" i="0">
                <a:solidFill>
                  <a:srgbClr val="1C1917"/>
                </a:solidFill>
                <a:latin typeface="Calibri"/>
              </a:rPr>
              <a:t>Sales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761488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6B6560"/>
                </a:solidFill>
                <a:latin typeface="Calibri"/>
              </a:rPr>
              <a:t>every rep is your best rep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5661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24128" y="3794760"/>
            <a:ext cx="384048" cy="384048"/>
          </a:xfrm>
          <a:prstGeom prst="ellipse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37947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ookman Old Style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6192" y="3767328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350" b="1" i="0">
                <a:solidFill>
                  <a:srgbClr val="1C1917"/>
                </a:solidFill>
                <a:latin typeface="Calibri"/>
              </a:rPr>
              <a:t>Customer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407408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6B6560"/>
                </a:solidFill>
                <a:latin typeface="Calibri"/>
              </a:rPr>
              <a:t>one memory per relationship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11880" y="3566160"/>
            <a:ext cx="2606040" cy="1417320"/>
          </a:xfrm>
          <a:prstGeom prst="roundRect">
            <a:avLst/>
          </a:prstGeom>
          <a:solidFill>
            <a:srgbClr val="F5F2EE"/>
          </a:solidFill>
          <a:ln w="12700">
            <a:solidFill>
              <a:srgbClr val="B9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813048" y="3794760"/>
            <a:ext cx="384048" cy="384048"/>
          </a:xfrm>
          <a:prstGeom prst="ellipse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3048" y="37947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ookman Old Style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5112" y="3767328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350" b="1" i="0">
                <a:solidFill>
                  <a:srgbClr val="1C1917"/>
                </a:solidFill>
                <a:latin typeface="Calibri"/>
              </a:rPr>
              <a:t>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407408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6B6560"/>
                </a:solidFill>
                <a:latin typeface="Calibri"/>
              </a:rPr>
              <a:t>score high-stakes choices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5661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601968" y="3794760"/>
            <a:ext cx="384048" cy="384048"/>
          </a:xfrm>
          <a:prstGeom prst="ellipse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01968" y="37947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ookman Old Style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14032" y="3767328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350" b="1" i="0">
                <a:solidFill>
                  <a:srgbClr val="1C1917"/>
                </a:solidFill>
                <a:latin typeface="Calibri"/>
              </a:rPr>
              <a:t>Intelligence &amp; Risk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407408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6B6560"/>
                </a:solidFill>
                <a:latin typeface="Calibri"/>
              </a:rPr>
              <a:t>live radar + crisis playbook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89720" y="3566160"/>
            <a:ext cx="2606040" cy="1417320"/>
          </a:xfrm>
          <a:prstGeom prst="roundRect">
            <a:avLst/>
          </a:prstGeom>
          <a:solidFill>
            <a:srgbClr val="F5F2EE"/>
          </a:solidFill>
          <a:ln w="12700">
            <a:solidFill>
              <a:srgbClr val="B9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390888" y="3794760"/>
            <a:ext cx="384048" cy="384048"/>
          </a:xfrm>
          <a:prstGeom prst="ellipse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90888" y="37947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ookman Old Style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02952" y="3767328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350" b="1" i="0">
                <a:solidFill>
                  <a:srgbClr val="1C1917"/>
                </a:solidFill>
                <a:latin typeface="Calibri"/>
              </a:rPr>
              <a:t>Automation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4407408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6B6560"/>
                </a:solidFill>
                <a:latin typeface="Calibri"/>
              </a:rPr>
              <a:t>runs on a cadence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1">
                <a:solidFill>
                  <a:srgbClr val="C45A1A"/>
                </a:solidFill>
                <a:latin typeface="Calibri"/>
              </a:rPr>
              <a:t>A small business switches on 3 layers; an enterprise runs all 8. Same platform, different views.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E08A4F"/>
                </a:solidFill>
                <a:latin typeface="Calibri"/>
              </a:rPr>
              <a:t>THE ENGINE OF PRICING &amp;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300" b="1" i="0">
                <a:solidFill>
                  <a:srgbClr val="FFFFFF"/>
                </a:solidFill>
                <a:latin typeface="Bookman Old Style"/>
              </a:rPr>
              <a:t>Clients buy their way up a 5-level ladder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297679"/>
            <a:ext cx="2103120" cy="1828800"/>
          </a:xfrm>
          <a:prstGeom prst="roundRect">
            <a:avLst/>
          </a:prstGeom>
          <a:solidFill>
            <a:srgbClr val="2A2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480559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C45A1A"/>
                </a:solidFill>
                <a:latin typeface="Bookman Old Style"/>
              </a:rPr>
              <a:t>L1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74919"/>
            <a:ext cx="1883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5623559"/>
            <a:ext cx="1883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1">
                <a:solidFill>
                  <a:srgbClr val="B9B2AA"/>
                </a:solidFill>
                <a:latin typeface="Calibri"/>
              </a:rPr>
              <a:t>Is it written down?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44951" y="3886200"/>
            <a:ext cx="2103120" cy="2240280"/>
          </a:xfrm>
          <a:prstGeom prst="roundRect">
            <a:avLst/>
          </a:prstGeom>
          <a:solidFill>
            <a:srgbClr val="2A2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1" y="406908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C45A1A"/>
                </a:solidFill>
                <a:latin typeface="Bookman Old Style"/>
              </a:rPr>
              <a:t>L2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79" y="4663440"/>
            <a:ext cx="1883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Knowledge Mgmt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79" y="5212080"/>
            <a:ext cx="1883663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1">
                <a:solidFill>
                  <a:srgbClr val="B9B2AA"/>
                </a:solidFill>
                <a:latin typeface="Calibri"/>
              </a:rPr>
              <a:t>Can anyone find &amp; trust the answer?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66944" y="3474720"/>
            <a:ext cx="2103120" cy="2651760"/>
          </a:xfrm>
          <a:prstGeom prst="roundRect">
            <a:avLst/>
          </a:prstGeom>
          <a:solidFill>
            <a:srgbClr val="2A2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66944" y="365760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C45A1A"/>
                </a:solidFill>
                <a:latin typeface="Bookman Old Style"/>
              </a:rPr>
              <a:t>L3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4251959"/>
            <a:ext cx="1883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Process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4800600"/>
            <a:ext cx="18836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1">
                <a:solidFill>
                  <a:srgbClr val="B9B2AA"/>
                </a:solidFill>
                <a:latin typeface="Calibri"/>
              </a:rPr>
              <a:t>Can the brain run our work?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88936" y="3063239"/>
            <a:ext cx="2103120" cy="3063240"/>
          </a:xfrm>
          <a:prstGeom prst="roundRect">
            <a:avLst/>
          </a:prstGeom>
          <a:solidFill>
            <a:srgbClr val="2A2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8936" y="324612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C45A1A"/>
                </a:solidFill>
                <a:latin typeface="Bookman Old Style"/>
              </a:rPr>
              <a:t>L4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98663" y="3840479"/>
            <a:ext cx="1883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Decision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98663" y="4389120"/>
            <a:ext cx="1883663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1">
                <a:solidFill>
                  <a:srgbClr val="B9B2AA"/>
                </a:solidFill>
                <a:latin typeface="Calibri"/>
              </a:rPr>
              <a:t>Does it make us decide better?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10928" y="2651759"/>
            <a:ext cx="2103120" cy="3474720"/>
          </a:xfrm>
          <a:prstGeom prst="roundRect">
            <a:avLst/>
          </a:prstGeom>
          <a:solidFill>
            <a:srgbClr val="2A2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0928" y="2834639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C45A1A"/>
                </a:solidFill>
                <a:latin typeface="Bookman Old Style"/>
              </a:rPr>
              <a:t>L5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0655" y="3428999"/>
            <a:ext cx="1883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Operating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0655" y="3977639"/>
            <a:ext cx="1883663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1">
                <a:solidFill>
                  <a:srgbClr val="B9B2AA"/>
                </a:solidFill>
                <a:latin typeface="Calibri"/>
              </a:rPr>
              <a:t>Does the business run on it?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1">
                <a:solidFill>
                  <a:srgbClr val="FFFFFF"/>
                </a:solidFill>
                <a:latin typeface="Calibri"/>
              </a:rPr>
              <a:t>The iron rule: never automate (L5) on top of unverified knowledge (L1). The maturity gap is the value case in every sale.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C45A1A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300" b="1" i="0">
                <a:solidFill>
                  <a:srgbClr val="1C1917"/>
                </a:solidFill>
                <a:latin typeface="Bookman Old Style"/>
              </a:rPr>
              <a:t>Build once. Configure per industry. Sell many.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419856" cy="2926080"/>
          </a:xfrm>
          <a:prstGeom prst="round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28712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C45A1A"/>
                </a:solidFill>
                <a:latin typeface="Bookman Old Style"/>
              </a:rPr>
              <a:t>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287121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The 8-layer brain, sold as recurring SaaS across 4 tiers.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343400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C1917"/>
                </a:solidFill>
                <a:latin typeface="Calibri"/>
              </a:rPr>
              <a:t>RECURRING REVENUE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419856" cy="2926080"/>
          </a:xfrm>
          <a:prstGeom prst="round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8712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C45A1A"/>
                </a:solidFill>
                <a:latin typeface="Bookman Old Style"/>
              </a:rPr>
              <a:t>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287121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The CORTEX Method captures the client’s knowledge and stands up their brain.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343400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C1917"/>
                </a:solidFill>
                <a:latin typeface="Calibri"/>
              </a:rPr>
              <a:t>HIGH-MARGIN WEDGE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2011680"/>
            <a:ext cx="3419856" cy="2926080"/>
          </a:xfrm>
          <a:prstGeom prst="round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286000"/>
            <a:ext cx="28712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C45A1A"/>
                </a:solidFill>
                <a:latin typeface="Bookman Old Style"/>
              </a:rPr>
              <a:t>Industry Templates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926080"/>
            <a:ext cx="287121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Reusable per-vertical packs — vocabulary, scoring, compliance, starter SOPs.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343400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C1917"/>
                </a:solidFill>
                <a:latin typeface="Calibri"/>
              </a:rPr>
              <a:t>THE SCALABILITY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1">
                <a:solidFill>
                  <a:srgbClr val="1C1917"/>
                </a:solidFill>
                <a:latin typeface="Calibri"/>
              </a:rPr>
              <a:t>Services-led to learn the verticals and fund the build → platform-led recurring revenue as templates mature. A brain must be trusted before it’s bought; new verticals are new templates, not new engineering.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C45A1A"/>
                </a:solidFill>
                <a:latin typeface="Calibri"/>
              </a:rPr>
              <a:t>THE OFFER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300" b="1" i="0">
                <a:solidFill>
                  <a:srgbClr val="1C1917"/>
                </a:solidFill>
                <a:latin typeface="Bookman Old Style"/>
              </a:rPr>
              <a:t>Four tiers, one upgrade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1508760" cy="475488"/>
          </a:xfrm>
          <a:prstGeom prst="rect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20240"/>
            <a:ext cx="13624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1920240"/>
            <a:ext cx="1965960" cy="475488"/>
          </a:xfrm>
          <a:prstGeom prst="rect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04872" y="1920240"/>
            <a:ext cx="18196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STARTER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920240"/>
            <a:ext cx="1965960" cy="475488"/>
          </a:xfrm>
          <a:prstGeom prst="rect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0831" y="1920240"/>
            <a:ext cx="18196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920240"/>
            <a:ext cx="1965960" cy="475488"/>
          </a:xfrm>
          <a:prstGeom prst="rect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20240"/>
            <a:ext cx="18196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PROFESS.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395728"/>
            <a:ext cx="1508760" cy="475488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395728"/>
            <a:ext cx="13624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C1917"/>
                </a:solidFill>
                <a:latin typeface="Calibri"/>
              </a:rPr>
              <a:t>Target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2395728"/>
            <a:ext cx="1965960" cy="475488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04872" y="2395728"/>
            <a:ext cx="18196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1C1917"/>
                </a:solidFill>
                <a:latin typeface="Calibri"/>
              </a:rPr>
              <a:t>Solo / micro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2395728"/>
            <a:ext cx="1965960" cy="475488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2395728"/>
            <a:ext cx="18196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1C1917"/>
                </a:solidFill>
                <a:latin typeface="Calibri"/>
              </a:rPr>
              <a:t>SME (10–250)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395728"/>
            <a:ext cx="1965960" cy="475488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395728"/>
            <a:ext cx="18196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1C1917"/>
                </a:solidFill>
                <a:latin typeface="Calibri"/>
              </a:rPr>
              <a:t>Mid-market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2871216"/>
            <a:ext cx="15087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871216"/>
            <a:ext cx="13624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C1917"/>
                </a:solidFill>
                <a:latin typeface="Calibri"/>
              </a:rPr>
              <a:t>Maturity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31720" y="2871216"/>
            <a:ext cx="1965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04872" y="2871216"/>
            <a:ext cx="18196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1C1917"/>
                </a:solidFill>
                <a:latin typeface="Calibri"/>
              </a:rPr>
              <a:t>L1 →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79" y="2871216"/>
            <a:ext cx="1965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0831" y="2871216"/>
            <a:ext cx="18196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1C1917"/>
                </a:solidFill>
                <a:latin typeface="Calibri"/>
              </a:rPr>
              <a:t>L2 →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871216"/>
            <a:ext cx="1965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2871216"/>
            <a:ext cx="18196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1C1917"/>
                </a:solidFill>
                <a:latin typeface="Calibri"/>
              </a:rPr>
              <a:t>L3 → 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346704"/>
            <a:ext cx="1508760" cy="475488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3346704"/>
            <a:ext cx="13624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C1917"/>
                </a:solidFill>
                <a:latin typeface="Calibri"/>
              </a:rPr>
              <a:t>Layers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31720" y="3346704"/>
            <a:ext cx="1965960" cy="475488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04872" y="3346704"/>
            <a:ext cx="18196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1C1917"/>
                </a:solidFill>
                <a:latin typeface="Calibri"/>
              </a:rPr>
              <a:t>2–3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79" y="3346704"/>
            <a:ext cx="1965960" cy="475488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70831" y="3346704"/>
            <a:ext cx="18196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1C1917"/>
                </a:solidFill>
                <a:latin typeface="Calibri"/>
              </a:rPr>
              <a:t>4–5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346704"/>
            <a:ext cx="1965960" cy="475488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3346704"/>
            <a:ext cx="18196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1C1917"/>
                </a:solidFill>
                <a:latin typeface="Calibri"/>
              </a:rPr>
              <a:t>6–7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3822191"/>
            <a:ext cx="15087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3822191"/>
            <a:ext cx="13624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C1917"/>
                </a:solidFill>
                <a:latin typeface="Calibri"/>
              </a:rPr>
              <a:t>Automations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1720" y="3822191"/>
            <a:ext cx="1965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04872" y="3822191"/>
            <a:ext cx="18196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1C1917"/>
                </a:solidFill>
                <a:latin typeface="Calibri"/>
              </a:rPr>
              <a:t>Read-only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79" y="3822191"/>
            <a:ext cx="1965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70831" y="3822191"/>
            <a:ext cx="18196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1C1917"/>
                </a:solidFill>
                <a:latin typeface="Calibri"/>
              </a:rPr>
              <a:t>Schedules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3822191"/>
            <a:ext cx="1965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36792" y="3822191"/>
            <a:ext cx="18196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1C1917"/>
                </a:solidFill>
                <a:latin typeface="Calibri"/>
              </a:rPr>
              <a:t>Workflows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" y="4297679"/>
            <a:ext cx="1508760" cy="475488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6112" y="4297679"/>
            <a:ext cx="13624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C1917"/>
                </a:solidFill>
                <a:latin typeface="Calibri"/>
              </a:rPr>
              <a:t>Deployment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31720" y="4297679"/>
            <a:ext cx="1965960" cy="475488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04872" y="4297679"/>
            <a:ext cx="18196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1C1917"/>
                </a:solidFill>
                <a:latin typeface="Calibri"/>
              </a:rPr>
              <a:t>Multi-tenant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97679" y="4297679"/>
            <a:ext cx="1965960" cy="475488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70831" y="4297679"/>
            <a:ext cx="18196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1C1917"/>
                </a:solidFill>
                <a:latin typeface="Calibri"/>
              </a:rPr>
              <a:t>Multi-tenant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4297679"/>
            <a:ext cx="1965960" cy="475488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36792" y="4297679"/>
            <a:ext cx="18196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1C1917"/>
                </a:solidFill>
                <a:latin typeface="Calibri"/>
              </a:rPr>
              <a:t>MT/isolated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49640" y="1920240"/>
            <a:ext cx="2788920" cy="2852928"/>
          </a:xfrm>
          <a:prstGeom prst="round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0" y="2084831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Bookman Old Style"/>
              </a:rPr>
              <a:t>ENTERPRISE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0" y="2542032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B9B2AA"/>
                </a:solidFill>
                <a:latin typeface="Calibri"/>
              </a:rPr>
              <a:t>2.5K–10K+ employees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0" y="2999232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E08A4F"/>
                </a:solidFill>
                <a:latin typeface="Calibri"/>
              </a:rPr>
              <a:t>Level 4 → 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3456432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All 8 lobes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78240" y="3913631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Full cadence + triggers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78240" y="4370831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Single-tenant / VPC / on-prem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" y="50749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C1917"/>
                </a:solidFill>
                <a:latin typeface="Calibri"/>
              </a:rPr>
              <a:t>Add-ons monetize the variable layer: </a:t>
            </a:r>
            <a:r>
              <a:rPr sz="1300" b="0" i="0">
                <a:solidFill>
                  <a:srgbClr val="6B6560"/>
                </a:solidFill>
                <a:latin typeface="Calibri"/>
              </a:rPr>
              <a:t>extra industry templates, additional brand-brains (agencies), premium integrations, compliance packs.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C45A1A"/>
                </a:solidFill>
                <a:latin typeface="Calibri"/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300" b="1" i="0">
                <a:solidFill>
                  <a:srgbClr val="1C1917"/>
                </a:solidFill>
                <a:latin typeface="Bookman Old Style"/>
              </a:rPr>
              <a:t>Priced on value &amp; maturity — three regions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1">
                <a:solidFill>
                  <a:srgbClr val="6B6560"/>
                </a:solidFill>
                <a:latin typeface="Calibri"/>
              </a:rPr>
              <a:t>Year-1 total (setup + 12 months). SEA is the anchor; EU and Premium are variants.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2194560" cy="502920"/>
          </a:xfrm>
          <a:prstGeom prst="rect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94560"/>
            <a:ext cx="204825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Region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2194560"/>
            <a:ext cx="2148840" cy="502920"/>
          </a:xfrm>
          <a:prstGeom prst="rect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2" y="2194560"/>
            <a:ext cx="200253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STARTER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360" y="2194560"/>
            <a:ext cx="2148840" cy="502920"/>
          </a:xfrm>
          <a:prstGeom prst="rect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194560"/>
            <a:ext cx="200253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194560"/>
            <a:ext cx="2103120" cy="502920"/>
          </a:xfrm>
          <a:prstGeom prst="rect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88352" y="2194560"/>
            <a:ext cx="195681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PROFESSIONAL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2194560"/>
            <a:ext cx="1920240" cy="502920"/>
          </a:xfrm>
          <a:prstGeom prst="rect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91472" y="2194560"/>
            <a:ext cx="177393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ENTERPRISE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697480"/>
            <a:ext cx="2194560" cy="502920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697480"/>
            <a:ext cx="204825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C1917"/>
                </a:solidFill>
                <a:latin typeface="Calibri"/>
              </a:rPr>
              <a:t>Malaysia / SEA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2697480"/>
            <a:ext cx="2148840" cy="502920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90672" y="2697480"/>
            <a:ext cx="200253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C1917"/>
                </a:solidFill>
                <a:latin typeface="Calibri"/>
              </a:rPr>
              <a:t>RM 20.4K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66360" y="2697480"/>
            <a:ext cx="2148840" cy="502920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9512" y="2697480"/>
            <a:ext cx="200253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C1917"/>
                </a:solidFill>
                <a:latin typeface="Calibri"/>
              </a:rPr>
              <a:t>RM 60K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2697480"/>
            <a:ext cx="2103120" cy="502920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88352" y="2697480"/>
            <a:ext cx="195681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C1917"/>
                </a:solidFill>
                <a:latin typeface="Calibri"/>
              </a:rPr>
              <a:t>RM 141K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2697480"/>
            <a:ext cx="1920240" cy="502920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91472" y="2697480"/>
            <a:ext cx="177393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C1917"/>
                </a:solidFill>
                <a:latin typeface="Calibri"/>
              </a:rPr>
              <a:t>RM 336K+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320040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200400"/>
            <a:ext cx="204825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C1917"/>
                </a:solidFill>
                <a:latin typeface="Calibri"/>
              </a:rPr>
              <a:t>Europe / DACH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3200400"/>
            <a:ext cx="21488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3200400"/>
            <a:ext cx="200253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C1917"/>
                </a:solidFill>
                <a:latin typeface="Calibri"/>
              </a:rPr>
              <a:t>€ 7.9K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66360" y="3200400"/>
            <a:ext cx="21488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39512" y="3200400"/>
            <a:ext cx="200253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C1917"/>
                </a:solidFill>
                <a:latin typeface="Calibri"/>
              </a:rPr>
              <a:t>€ 24.8K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20040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88352" y="3200400"/>
            <a:ext cx="195681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C1917"/>
                </a:solidFill>
                <a:latin typeface="Calibri"/>
              </a:rPr>
              <a:t>€ 64K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18320" y="3200400"/>
            <a:ext cx="19202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1472" y="3200400"/>
            <a:ext cx="177393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C1917"/>
                </a:solidFill>
                <a:latin typeface="Calibri"/>
              </a:rPr>
              <a:t>€ 167K+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3703320"/>
            <a:ext cx="2194560" cy="502920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3703320"/>
            <a:ext cx="204825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C1917"/>
                </a:solidFill>
                <a:latin typeface="Calibri"/>
              </a:rPr>
              <a:t>Premium (USD)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3703320"/>
            <a:ext cx="2148840" cy="502920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90672" y="3703320"/>
            <a:ext cx="200253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C1917"/>
                </a:solidFill>
                <a:latin typeface="Calibri"/>
              </a:rPr>
              <a:t>$ 10.2K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66360" y="3703320"/>
            <a:ext cx="2148840" cy="502920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9512" y="3703320"/>
            <a:ext cx="200253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C1917"/>
                </a:solidFill>
                <a:latin typeface="Calibri"/>
              </a:rPr>
              <a:t>$ 36K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3703320"/>
            <a:ext cx="2103120" cy="502920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88352" y="3703320"/>
            <a:ext cx="195681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C1917"/>
                </a:solidFill>
                <a:latin typeface="Calibri"/>
              </a:rPr>
              <a:t>$ 107K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18320" y="3703320"/>
            <a:ext cx="1920240" cy="502920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91472" y="3703320"/>
            <a:ext cx="177393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C1917"/>
                </a:solidFill>
                <a:latin typeface="Calibri"/>
              </a:rPr>
              <a:t>$ 270K+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45720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1" i="0">
                <a:solidFill>
                  <a:srgbClr val="C45A1A"/>
                </a:solidFill>
                <a:latin typeface="Calibri"/>
              </a:rPr>
              <a:t>The wedge: </a:t>
            </a:r>
            <a:r>
              <a:rPr sz="1400" b="0" i="0">
                <a:solidFill>
                  <a:srgbClr val="1C1917"/>
                </a:solidFill>
                <a:latin typeface="Calibri"/>
              </a:rPr>
              <a:t>our Growth tier (~USD 13K Year-1) lands below the ~$60K–108K floors of Glean and ChatGPT Enterprise — while delivering far more than search or chat. Enterprise still undercuts a Palantir engagement by an order of magnitude. We win on value-per-dollar at the mid-market, not per-seat price wars.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E08A4F"/>
                </a:solidFill>
                <a:latin typeface="Calibri"/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300" b="1" i="0">
                <a:solidFill>
                  <a:srgbClr val="FFFFFF"/>
                </a:solidFill>
                <a:latin typeface="Bookman Old Style"/>
              </a:rPr>
              <a:t>Everyone owns a slice. Nobody owns the brain.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2834640" cy="457200"/>
          </a:xfrm>
          <a:prstGeom prst="rect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65960"/>
            <a:ext cx="26883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965960"/>
            <a:ext cx="4114800" cy="457200"/>
          </a:xfrm>
          <a:prstGeom prst="rect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30752" y="1965960"/>
            <a:ext cx="39684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Indicative 2026 price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965960"/>
            <a:ext cx="3566160" cy="457200"/>
          </a:xfrm>
          <a:prstGeom prst="rect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45552" y="1965960"/>
            <a:ext cx="34198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Gap vs. CORTEX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423160"/>
            <a:ext cx="2834640" cy="457200"/>
          </a:xfrm>
          <a:prstGeom prst="rect">
            <a:avLst/>
          </a:prstGeom>
          <a:solidFill>
            <a:srgbClr val="2A2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423160"/>
            <a:ext cx="26883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F5F2EE"/>
                </a:solidFill>
                <a:latin typeface="Calibri"/>
              </a:rPr>
              <a:t>Palantir Foundry/AIP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423160"/>
            <a:ext cx="4114800" cy="457200"/>
          </a:xfrm>
          <a:prstGeom prst="rect">
            <a:avLst/>
          </a:prstGeom>
          <a:solidFill>
            <a:srgbClr val="2A2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0752" y="2423160"/>
            <a:ext cx="39684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F5F2EE"/>
                </a:solidFill>
                <a:latin typeface="Calibri"/>
              </a:rPr>
              <a:t>Custom; 6–7 figures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423160"/>
            <a:ext cx="3566160" cy="457200"/>
          </a:xfrm>
          <a:prstGeom prst="rect">
            <a:avLst/>
          </a:prstGeom>
          <a:solidFill>
            <a:srgbClr val="2A2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423160"/>
            <a:ext cx="34198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F5F2EE"/>
                </a:solidFill>
                <a:latin typeface="Calibri"/>
              </a:rPr>
              <a:t>Unreachable for SME/mid-market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880360"/>
            <a:ext cx="2834640" cy="457200"/>
          </a:xfrm>
          <a:prstGeom prst="rect">
            <a:avLst/>
          </a:prstGeom>
          <a:solidFill>
            <a:srgbClr val="332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880360"/>
            <a:ext cx="26883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F5F2EE"/>
                </a:solidFill>
                <a:latin typeface="Calibri"/>
              </a:rPr>
              <a:t>Glean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880360"/>
            <a:ext cx="4114800" cy="457200"/>
          </a:xfrm>
          <a:prstGeom prst="rect">
            <a:avLst/>
          </a:prstGeom>
          <a:solidFill>
            <a:srgbClr val="332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30752" y="2880360"/>
            <a:ext cx="39684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F5F2EE"/>
                </a:solidFill>
                <a:latin typeface="Calibri"/>
              </a:rPr>
              <a:t>~$50/user; ~$60K+ ACV floor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2880360"/>
            <a:ext cx="3566160" cy="457200"/>
          </a:xfrm>
          <a:prstGeom prst="rect">
            <a:avLst/>
          </a:prstGeom>
          <a:solidFill>
            <a:srgbClr val="332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2880360"/>
            <a:ext cx="34198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F5F2EE"/>
                </a:solidFill>
                <a:latin typeface="Calibri"/>
              </a:rPr>
              <a:t>Answers only; no execution/memory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337560"/>
            <a:ext cx="2834640" cy="457200"/>
          </a:xfrm>
          <a:prstGeom prst="rect">
            <a:avLst/>
          </a:prstGeom>
          <a:solidFill>
            <a:srgbClr val="2A2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337560"/>
            <a:ext cx="26883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F5F2EE"/>
                </a:solidFill>
                <a:latin typeface="Calibri"/>
              </a:rPr>
              <a:t>ChatGPT Enterprise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337560"/>
            <a:ext cx="4114800" cy="457200"/>
          </a:xfrm>
          <a:prstGeom prst="rect">
            <a:avLst/>
          </a:prstGeom>
          <a:solidFill>
            <a:srgbClr val="2A2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30752" y="3337560"/>
            <a:ext cx="39684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F5F2EE"/>
                </a:solidFill>
                <a:latin typeface="Calibri"/>
              </a:rPr>
              <a:t>~$50–60/user; ~$108K/yr floor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3337560"/>
            <a:ext cx="3566160" cy="457200"/>
          </a:xfrm>
          <a:prstGeom prst="rect">
            <a:avLst/>
          </a:prstGeom>
          <a:solidFill>
            <a:srgbClr val="2A2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45552" y="3337560"/>
            <a:ext cx="34198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F5F2EE"/>
                </a:solidFill>
                <a:latin typeface="Calibri"/>
              </a:rPr>
              <a:t>Generic; can fabricate; no governed graph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794760"/>
            <a:ext cx="2834640" cy="457200"/>
          </a:xfrm>
          <a:prstGeom prst="rect">
            <a:avLst/>
          </a:prstGeom>
          <a:solidFill>
            <a:srgbClr val="332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3794760"/>
            <a:ext cx="26883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F5F2EE"/>
                </a:solidFill>
                <a:latin typeface="Calibri"/>
              </a:rPr>
              <a:t>MS Copilot / Notion AI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3794760"/>
            <a:ext cx="4114800" cy="457200"/>
          </a:xfrm>
          <a:prstGeom prst="rect">
            <a:avLst/>
          </a:prstGeom>
          <a:solidFill>
            <a:srgbClr val="332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30752" y="3794760"/>
            <a:ext cx="39684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F5F2EE"/>
                </a:solidFill>
                <a:latin typeface="Calibri"/>
              </a:rPr>
              <a:t>$30 / $20 per user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3794760"/>
            <a:ext cx="3566160" cy="457200"/>
          </a:xfrm>
          <a:prstGeom prst="rect">
            <a:avLst/>
          </a:prstGeom>
          <a:solidFill>
            <a:srgbClr val="332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3794760"/>
            <a:ext cx="34198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F5F2EE"/>
                </a:solidFill>
                <a:latin typeface="Calibri"/>
              </a:rPr>
              <a:t>No business graph, weak governance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4251960"/>
            <a:ext cx="2834640" cy="457200"/>
          </a:xfrm>
          <a:prstGeom prst="rect">
            <a:avLst/>
          </a:prstGeom>
          <a:solidFill>
            <a:srgbClr val="2A2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4251960"/>
            <a:ext cx="26883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F5F2EE"/>
                </a:solidFill>
                <a:latin typeface="Calibri"/>
              </a:rPr>
              <a:t>Salesforce Agentforce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0" y="4251960"/>
            <a:ext cx="4114800" cy="457200"/>
          </a:xfrm>
          <a:prstGeom prst="rect">
            <a:avLst/>
          </a:prstGeom>
          <a:solidFill>
            <a:srgbClr val="2A2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30752" y="4251960"/>
            <a:ext cx="39684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F5F2EE"/>
                </a:solidFill>
                <a:latin typeface="Calibri"/>
              </a:rPr>
              <a:t>$2/conv · ~$125/user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0" y="4251960"/>
            <a:ext cx="3566160" cy="457200"/>
          </a:xfrm>
          <a:prstGeom prst="rect">
            <a:avLst/>
          </a:prstGeom>
          <a:solidFill>
            <a:srgbClr val="2A2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45552" y="4251960"/>
            <a:ext cx="34198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F5F2EE"/>
                </a:solidFill>
                <a:latin typeface="Calibri"/>
              </a:rPr>
              <a:t>Locked-in; agents on ungoverned base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34924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00" b="1" i="0">
                <a:solidFill>
                  <a:srgbClr val="E08A4F"/>
                </a:solidFill>
                <a:latin typeface="Calibri"/>
              </a:rPr>
              <a:t>Our moat: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the governance + trust layer, the compounding knowledge graph + memory, the proprietary template library, and the repeatable CORTEX Method. Generic AI can’t copy the trust layer without rebuilding its core.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C45A1A"/>
                </a:solidFill>
                <a:latin typeface="Calibri"/>
              </a:rPr>
              <a:t>WHY THIS IS CREDIBLE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300" b="1" i="0">
                <a:solidFill>
                  <a:srgbClr val="1C1917"/>
                </a:solidFill>
                <a:latin typeface="Bookman Old Style"/>
              </a:rPr>
              <a:t>Productized from a system that already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4864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0" i="0">
                <a:solidFill>
                  <a:srgbClr val="1C1917"/>
                </a:solidFill>
                <a:latin typeface="Calibri"/>
              </a:rPr>
              <a:t>CORTEX is the domain-neutral extraction of the MIPP PIOS — a real, governed “leadership brain” built for a national political organization.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0" i="0">
                <a:solidFill>
                  <a:srgbClr val="6B6560"/>
                </a:solidFill>
                <a:latin typeface="Calibri"/>
              </a:rPr>
              <a:t>It solved the hardest version of a universal problem: capture what the people at the top know, prevent the AI from making things up, and control who sees what — in a domain where one fabricated fact causes real damage.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6B6560"/>
                </a:solidFill>
                <a:latin typeface="Calibri"/>
              </a:rPr>
              <a:t>Remove the politics and what remains — governance, grounded retrieval, memory, the knowledge graph, the maturity model, the verification layer — is already industry-neutral.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828800"/>
            <a:ext cx="4572000" cy="3566160"/>
          </a:xfrm>
          <a:prstGeom prst="round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205740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C45A1A"/>
                </a:solidFill>
                <a:latin typeface="Calibri"/>
              </a:rPr>
              <a:t>Already in hand</a:t>
            </a:r>
          </a:p>
        </p:txBody>
      </p:sp>
      <p:sp>
        <p:nvSpPr>
          <p:cNvPr id="8" name="Oval 7"/>
          <p:cNvSpPr/>
          <p:nvPr/>
        </p:nvSpPr>
        <p:spPr>
          <a:xfrm>
            <a:off x="7040880" y="2697480"/>
            <a:ext cx="310896" cy="310896"/>
          </a:xfrm>
          <a:prstGeom prst="ellipse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269748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679192"/>
            <a:ext cx="3611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C1917"/>
                </a:solidFill>
                <a:latin typeface="Calibri"/>
              </a:rPr>
              <a:t>Proven governed architecture (graph + RBAC + grounded RAG)</a:t>
            </a:r>
          </a:p>
        </p:txBody>
      </p:sp>
      <p:sp>
        <p:nvSpPr>
          <p:cNvPr id="11" name="Oval 10"/>
          <p:cNvSpPr/>
          <p:nvPr/>
        </p:nvSpPr>
        <p:spPr>
          <a:xfrm>
            <a:off x="7040880" y="3355848"/>
            <a:ext cx="310896" cy="310896"/>
          </a:xfrm>
          <a:prstGeom prst="ellipse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33558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337560"/>
            <a:ext cx="3611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C1917"/>
                </a:solidFill>
                <a:latin typeface="Calibri"/>
              </a:rPr>
              <a:t>The CORTEX Method delivery system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0" y="4014216"/>
            <a:ext cx="310896" cy="310896"/>
          </a:xfrm>
          <a:prstGeom prst="ellipse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40142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995928"/>
            <a:ext cx="3611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C1917"/>
                </a:solidFill>
                <a:latin typeface="Calibri"/>
              </a:rPr>
              <a:t>A framework ready to template across verticals</a:t>
            </a:r>
          </a:p>
        </p:txBody>
      </p:sp>
      <p:sp>
        <p:nvSpPr>
          <p:cNvPr id="17" name="Oval 16"/>
          <p:cNvSpPr/>
          <p:nvPr/>
        </p:nvSpPr>
        <p:spPr>
          <a:xfrm>
            <a:off x="7040880" y="4672584"/>
            <a:ext cx="310896" cy="310896"/>
          </a:xfrm>
          <a:prstGeom prst="ellipse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46725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654296"/>
            <a:ext cx="3611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C1917"/>
                </a:solidFill>
                <a:latin typeface="Calibri"/>
              </a:rPr>
              <a:t>Founder with Google + Meta Partner credibility, KL-based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6B6560"/>
                </a:solidFill>
                <a:latin typeface="Calibri"/>
              </a:rPr>
              <a:t>The political build stays a confidential, separate implementation. CORTEX is the company.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C45A1A"/>
                </a:solidFill>
                <a:latin typeface="Calibri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300" b="1" i="0">
                <a:solidFill>
                  <a:srgbClr val="1C1917"/>
                </a:solidFill>
                <a:latin typeface="Bookman Old Style"/>
              </a:rPr>
              <a:t>The diagnostic is the pitch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ookman Old Styl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C1917"/>
                </a:solidFill>
                <a:latin typeface="Calibri"/>
              </a:rPr>
              <a:t>Diagnose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2514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6B6560"/>
                </a:solidFill>
                <a:latin typeface="Calibri"/>
              </a:rPr>
              <a:t>Place the prospect on the maturity ladder — the gap is the value case.</a:t>
            </a:r>
          </a:p>
        </p:txBody>
      </p:sp>
      <p:sp>
        <p:nvSpPr>
          <p:cNvPr id="9" name="Oval 8"/>
          <p:cNvSpPr/>
          <p:nvPr/>
        </p:nvSpPr>
        <p:spPr>
          <a:xfrm>
            <a:off x="3611880" y="2103120"/>
            <a:ext cx="640080" cy="640080"/>
          </a:xfrm>
          <a:prstGeom prst="ellipse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ookman Old Style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97180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C1917"/>
                </a:solidFill>
                <a:latin typeface="Calibri"/>
              </a:rPr>
              <a:t>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474720"/>
            <a:ext cx="2514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6B6560"/>
                </a:solidFill>
                <a:latin typeface="Calibri"/>
              </a:rPr>
              <a:t>A live, grounded, fully-sourced answer — then a deliberate “I don’t know.” That closes regulated buyers.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2103120"/>
            <a:ext cx="640080" cy="640080"/>
          </a:xfrm>
          <a:prstGeom prst="ellipse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ookman Old Style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7180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C1917"/>
                </a:solidFill>
                <a:latin typeface="Calibri"/>
              </a:rPr>
              <a:t>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74720"/>
            <a:ext cx="2514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6B6560"/>
                </a:solidFill>
                <a:latin typeface="Calibri"/>
              </a:rPr>
              <a:t>Start with the 1–2 layers that hurt most; prove ROI fast at Level 2.</a:t>
            </a:r>
          </a:p>
        </p:txBody>
      </p:sp>
      <p:sp>
        <p:nvSpPr>
          <p:cNvPr id="17" name="Oval 16"/>
          <p:cNvSpPr/>
          <p:nvPr/>
        </p:nvSpPr>
        <p:spPr>
          <a:xfrm>
            <a:off x="9189720" y="2103120"/>
            <a:ext cx="640080" cy="640080"/>
          </a:xfrm>
          <a:prstGeom prst="ellipse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ookman Old Styl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97180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C1917"/>
                </a:solidFill>
                <a:latin typeface="Calibri"/>
              </a:rPr>
              <a:t>Expand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474720"/>
            <a:ext cx="2514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6B6560"/>
                </a:solidFill>
                <a:latin typeface="Calibri"/>
              </a:rPr>
              <a:t>Sell the climb: more layers, departments, integrations. NRR ~115%.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1" i="0">
                <a:solidFill>
                  <a:srgbClr val="C45A1A"/>
                </a:solidFill>
                <a:latin typeface="Calibri"/>
              </a:rPr>
              <a:t>Beachhead: </a:t>
            </a:r>
            <a:r>
              <a:rPr sz="1350" b="0" i="0">
                <a:solidFill>
                  <a:srgbClr val="1C1917"/>
                </a:solidFill>
                <a:latin typeface="Calibri"/>
              </a:rPr>
              <a:t>regulated verticals (law firms, clinics) where the trust layer sells itself — KL/Malaysia first, then SEA, then DACH via the German-language advantage. Win 2–3 references per vertical, harden the template, repeat.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E08A4F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300" b="1" i="0">
                <a:solidFill>
                  <a:srgbClr val="FFFFFF"/>
                </a:solidFill>
                <a:latin typeface="Bookman Old Style"/>
              </a:rPr>
              <a:t>Framework → Services → Platform → SaaS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2606040" cy="2743200"/>
          </a:xfrm>
          <a:prstGeom prst="roundRect">
            <a:avLst/>
          </a:prstGeom>
          <a:solidFill>
            <a:srgbClr val="2A2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2316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C45A1A"/>
                </a:solidFill>
                <a:latin typeface="Bookman Old Style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7180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Done-for-you Brain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88620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B9B2AA"/>
                </a:solidFill>
                <a:latin typeface="Calibri"/>
              </a:rPr>
              <a:t>Services-led pilots, one vertical. Revenue + references.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2194560"/>
            <a:ext cx="2606040" cy="2743200"/>
          </a:xfrm>
          <a:prstGeom prst="roundRect">
            <a:avLst/>
          </a:prstGeom>
          <a:solidFill>
            <a:srgbClr val="2A2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42316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C45A1A"/>
                </a:solidFill>
                <a:latin typeface="Bookman Old Style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97180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Brain as a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88620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B9B2AA"/>
                </a:solidFill>
                <a:latin typeface="Calibri"/>
              </a:rPr>
              <a:t>Productize: graph + RBAC + grounded RAG + trust layer.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194560"/>
            <a:ext cx="2606040" cy="2743200"/>
          </a:xfrm>
          <a:prstGeom prst="roundRect">
            <a:avLst/>
          </a:prstGeom>
          <a:solidFill>
            <a:srgbClr val="2A2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42316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C45A1A"/>
                </a:solidFill>
                <a:latin typeface="Bookman Old Style"/>
              </a:rP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97180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Managed Operating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88620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B9B2AA"/>
                </a:solidFill>
                <a:latin typeface="Calibri"/>
              </a:rPr>
              <a:t>Switch on automation + integrations for earned maturity.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2194560"/>
            <a:ext cx="2606040" cy="2743200"/>
          </a:xfrm>
          <a:prstGeom prst="roundRect">
            <a:avLst/>
          </a:prstGeom>
          <a:solidFill>
            <a:srgbClr val="2A2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242316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C45A1A"/>
                </a:solidFill>
                <a:latin typeface="Bookman Old Style"/>
              </a:rPr>
              <a:t>Phase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97180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Own SaaS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88620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B9B2AA"/>
                </a:solidFill>
                <a:latin typeface="Calibri"/>
              </a:rPr>
              <a:t>Self-serve floor + enterprise ceiling + template marketplace.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50" b="0" i="1">
                <a:solidFill>
                  <a:srgbClr val="FFFFFF"/>
                </a:solidFill>
                <a:latin typeface="Calibri"/>
              </a:rPr>
              <a:t>Sequencing is the strategy: trust, then revenue, then product, then scale.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C45A1A"/>
                </a:solidFill>
                <a:latin typeface="Calibri"/>
              </a:rPr>
              <a:t>FINANCIALS — BASE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300" b="1" i="0">
                <a:solidFill>
                  <a:srgbClr val="1C1917"/>
                </a:solidFill>
                <a:latin typeface="Bookman Old Style"/>
              </a:rPr>
              <a:t>A capital-efficient path to $2.6M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3200400" cy="475488"/>
          </a:xfrm>
          <a:prstGeom prst="rect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65960"/>
            <a:ext cx="30540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USD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1965960"/>
            <a:ext cx="2468880" cy="475488"/>
          </a:xfrm>
          <a:prstGeom prst="rect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96512" y="1965960"/>
            <a:ext cx="232257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Year 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965960"/>
            <a:ext cx="2468880" cy="475488"/>
          </a:xfrm>
          <a:prstGeom prst="rect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965960"/>
            <a:ext cx="232257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Year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965960"/>
            <a:ext cx="2377440" cy="475488"/>
          </a:xfrm>
          <a:prstGeom prst="rect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34272" y="1965960"/>
            <a:ext cx="223113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Year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441448"/>
            <a:ext cx="3200400" cy="475488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441448"/>
            <a:ext cx="30540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C1917"/>
                </a:solidFill>
                <a:latin typeface="Calibri"/>
              </a:rPr>
              <a:t>Total revenue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2441448"/>
            <a:ext cx="2468880" cy="475488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6512" y="2441448"/>
            <a:ext cx="232257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C1917"/>
                </a:solidFill>
                <a:latin typeface="Calibri"/>
              </a:rPr>
              <a:t>$214K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441448"/>
            <a:ext cx="2468880" cy="475488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2441448"/>
            <a:ext cx="232257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C1917"/>
                </a:solidFill>
                <a:latin typeface="Calibri"/>
              </a:rPr>
              <a:t>$921K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2441448"/>
            <a:ext cx="2377440" cy="475488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4272" y="2441448"/>
            <a:ext cx="223113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C1917"/>
                </a:solidFill>
                <a:latin typeface="Calibri"/>
              </a:rPr>
              <a:t>$2.59M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2916936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916936"/>
            <a:ext cx="30540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C1917"/>
                </a:solidFill>
                <a:latin typeface="Calibri"/>
              </a:rPr>
              <a:t>Recurring (ARR)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2916936"/>
            <a:ext cx="24688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96512" y="2916936"/>
            <a:ext cx="232257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C1917"/>
                </a:solidFill>
                <a:latin typeface="Calibri"/>
              </a:rPr>
              <a:t>$148K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916936"/>
            <a:ext cx="24688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2916936"/>
            <a:ext cx="232257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C1917"/>
                </a:solidFill>
                <a:latin typeface="Calibri"/>
              </a:rPr>
              <a:t>$670K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2916936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34272" y="2916936"/>
            <a:ext cx="223113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C1917"/>
                </a:solidFill>
                <a:latin typeface="Calibri"/>
              </a:rPr>
              <a:t>$1.95M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392424"/>
            <a:ext cx="3200400" cy="475488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3392424"/>
            <a:ext cx="30540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C1917"/>
                </a:solidFill>
                <a:latin typeface="Calibri"/>
              </a:rPr>
              <a:t>Gross margin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3392424"/>
            <a:ext cx="2468880" cy="475488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96512" y="3392424"/>
            <a:ext cx="232257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C1917"/>
                </a:solidFill>
                <a:latin typeface="Calibri"/>
              </a:rPr>
              <a:t>72%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3392424"/>
            <a:ext cx="2468880" cy="475488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65392" y="3392424"/>
            <a:ext cx="232257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C1917"/>
                </a:solidFill>
                <a:latin typeface="Calibri"/>
              </a:rPr>
              <a:t>73%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20" y="3392424"/>
            <a:ext cx="2377440" cy="475488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34272" y="3392424"/>
            <a:ext cx="223113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C1917"/>
                </a:solidFill>
                <a:latin typeface="Calibri"/>
              </a:rPr>
              <a:t>74%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3867912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3867912"/>
            <a:ext cx="30540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C1917"/>
                </a:solidFill>
                <a:latin typeface="Calibri"/>
              </a:rPr>
              <a:t>EBITDA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23360" y="3867912"/>
            <a:ext cx="24688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96512" y="3867912"/>
            <a:ext cx="232257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C1917"/>
                </a:solidFill>
                <a:latin typeface="Calibri"/>
              </a:rPr>
              <a:t>($25K)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3867912"/>
            <a:ext cx="24688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3867912"/>
            <a:ext cx="232257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C1917"/>
                </a:solidFill>
                <a:latin typeface="Calibri"/>
              </a:rPr>
              <a:t>$154K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61120" y="3867912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34272" y="3867912"/>
            <a:ext cx="223113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C1917"/>
                </a:solidFill>
                <a:latin typeface="Calibri"/>
              </a:rPr>
              <a:t>$765K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" y="4343400"/>
            <a:ext cx="3200400" cy="475488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6112" y="4343400"/>
            <a:ext cx="30540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C1917"/>
                </a:solidFill>
                <a:latin typeface="Calibri"/>
              </a:rPr>
              <a:t>Active clients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23360" y="4343400"/>
            <a:ext cx="2468880" cy="475488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96512" y="4343400"/>
            <a:ext cx="232257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C1917"/>
                </a:solidFill>
                <a:latin typeface="Calibri"/>
              </a:rPr>
              <a:t>16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4343400"/>
            <a:ext cx="2468880" cy="475488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65392" y="4343400"/>
            <a:ext cx="232257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C1917"/>
                </a:solidFill>
                <a:latin typeface="Calibri"/>
              </a:rPr>
              <a:t>76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0" y="4343400"/>
            <a:ext cx="2377440" cy="475488"/>
          </a:xfrm>
          <a:prstGeom prst="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34272" y="4343400"/>
            <a:ext cx="223113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C1917"/>
                </a:solidFill>
                <a:latin typeface="Calibri"/>
              </a:rPr>
              <a:t>243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2960" y="5029200"/>
            <a:ext cx="3291840" cy="1188720"/>
          </a:xfrm>
          <a:prstGeom prst="round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5840" y="5193792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C45A1A"/>
                </a:solidFill>
                <a:latin typeface="Bookman Old Style"/>
              </a:rPr>
              <a:t>$1.95M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" y="58704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6B6560"/>
                </a:solidFill>
                <a:latin typeface="Calibri"/>
              </a:rPr>
              <a:t>Year-3 ARR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43400" y="5029200"/>
            <a:ext cx="3291840" cy="1188720"/>
          </a:xfrm>
          <a:prstGeom prst="round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26280" y="5193792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C45A1A"/>
                </a:solidFill>
                <a:latin typeface="Bookman Old Style"/>
              </a:rPr>
              <a:t>~74%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26280" y="58704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6B6560"/>
                </a:solidFill>
                <a:latin typeface="Calibri"/>
              </a:rPr>
              <a:t>Gross margin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863840" y="5029200"/>
            <a:ext cx="3291840" cy="1188720"/>
          </a:xfrm>
          <a:prstGeom prst="roundRect">
            <a:avLst/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19" y="5193792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C45A1A"/>
                </a:solidFill>
                <a:latin typeface="Bookman Old Style"/>
              </a:rPr>
              <a:t>~115%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19" y="58704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6B6560"/>
                </a:solidFill>
                <a:latin typeface="Calibri"/>
              </a:rPr>
              <a:t>Net rev. retention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280160"/>
            <a:ext cx="3657600" cy="3657600"/>
          </a:xfrm>
          <a:prstGeom prst="ellipse">
            <a:avLst/>
          </a:prstGeom>
          <a:solidFill>
            <a:srgbClr val="2A2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E08A4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Bookman Old Style"/>
              </a:rPr>
              <a:t>Raising to fund the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6583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Bootstrap Phase 1 from winsym.ai cash flow + a USD 150–300K angel/grant round.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50" b="0" i="0">
                <a:solidFill>
                  <a:srgbClr val="B9B2AA"/>
                </a:solidFill>
                <a:latin typeface="Calibri"/>
              </a:rPr>
              <a:t>Use of funds: first 2 engineers, a sales hire, and the platform MVP (Phase 2).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50" b="0" i="0">
                <a:solidFill>
                  <a:srgbClr val="B9B2AA"/>
                </a:solidFill>
                <a:latin typeface="Calibri"/>
              </a:rPr>
              <a:t>Convert to a priced seed (~$1.5–3M) once 2–3 reference clients and one hardened vertical template are in place.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2011680"/>
            <a:ext cx="3657600" cy="3200400"/>
          </a:xfrm>
          <a:prstGeom prst="roundRect">
            <a:avLst/>
          </a:prstGeom>
          <a:solidFill>
            <a:srgbClr val="2A2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22402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E08A4F"/>
                </a:solidFill>
                <a:latin typeface="Calibri"/>
              </a:rPr>
              <a:t>Why invest now</a:t>
            </a:r>
          </a:p>
        </p:txBody>
      </p:sp>
      <p:sp>
        <p:nvSpPr>
          <p:cNvPr id="9" name="Oval 8"/>
          <p:cNvSpPr/>
          <p:nvPr/>
        </p:nvSpPr>
        <p:spPr>
          <a:xfrm>
            <a:off x="7955279" y="2788920"/>
            <a:ext cx="274320" cy="274320"/>
          </a:xfrm>
          <a:prstGeom prst="ellipse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743200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New category (BIOS) with a defensible governance moat</a:t>
            </a:r>
          </a:p>
        </p:txBody>
      </p:sp>
      <p:sp>
        <p:nvSpPr>
          <p:cNvPr id="11" name="Oval 10"/>
          <p:cNvSpPr/>
          <p:nvPr/>
        </p:nvSpPr>
        <p:spPr>
          <a:xfrm>
            <a:off x="7955279" y="3355848"/>
            <a:ext cx="274320" cy="274320"/>
          </a:xfrm>
          <a:prstGeom prst="ellipse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3310128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Services-to-SaaS margin story (40% → 80%+)</a:t>
            </a:r>
          </a:p>
        </p:txBody>
      </p:sp>
      <p:sp>
        <p:nvSpPr>
          <p:cNvPr id="13" name="Oval 12"/>
          <p:cNvSpPr/>
          <p:nvPr/>
        </p:nvSpPr>
        <p:spPr>
          <a:xfrm>
            <a:off x="7955279" y="3922776"/>
            <a:ext cx="274320" cy="274320"/>
          </a:xfrm>
          <a:prstGeom prst="ellipse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877056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SEA-to-global expansion path</a:t>
            </a:r>
          </a:p>
        </p:txBody>
      </p:sp>
      <p:sp>
        <p:nvSpPr>
          <p:cNvPr id="15" name="Oval 14"/>
          <p:cNvSpPr/>
          <p:nvPr/>
        </p:nvSpPr>
        <p:spPr>
          <a:xfrm>
            <a:off x="7955279" y="4489704"/>
            <a:ext cx="274320" cy="274320"/>
          </a:xfrm>
          <a:prstGeom prst="ellipse">
            <a:avLst/>
          </a:prstGeom>
          <a:solidFill>
            <a:srgbClr val="C4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443983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Proven architecture, not a science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08A4F"/>
                </a:solidFill>
                <a:latin typeface="Calibri"/>
              </a:rPr>
              <a:t>work@edgegraphics.co  ·  winsym.ai  ·  +60 11 2448 7055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114800"/>
            <a:ext cx="4114800" cy="4114800"/>
          </a:xfrm>
          <a:prstGeom prst="ellipse">
            <a:avLst/>
          </a:prstGeom>
          <a:solidFill>
            <a:srgbClr val="2A2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6000" b="1" i="0">
                <a:solidFill>
                  <a:srgbClr val="C45A1A"/>
                </a:solidFill>
                <a:latin typeface="Bookman Old Style"/>
              </a:rPr>
              <a:t>CORTEX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204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 i="1">
                <a:solidFill>
                  <a:srgbClr val="FFFFFF"/>
                </a:solidFill>
                <a:latin typeface="Calibri"/>
              </a:rPr>
              <a:t>Give every organization a brain — governed, trustworthy, and built to grow with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54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E08A4F"/>
                </a:solidFill>
                <a:latin typeface="Calibri"/>
              </a:rPr>
              <a:t>Winning systems, backed by a brain.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